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0:00-0:20 HOOK. Look at the class. Ask slowly: 'Can ONE SENTENCE change your life?' Pause 3 seconds. Say: 'Today, one sentence nearly cost a man his life.' Do not explain 'sentence' yet - the pun comes back on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0:20-0:50 DESCRIBE. Key words: my document = a speech / Nelson Mandela / 20 April 1964 / Rivonia Trial, South Africa / about 3 hours / from the dock = where the accused stands. Say it from memory, one fact per breath.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0:50-1:10 CONTEXT. Key words: apartheid = racist laws, unequal rights / laws are made of WORDS / Mandela and others accused of sabotage / photo: 1960, he burns his pass (a document Black South Africans had to carry). Transition: 'In 1964 he stood in court.'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1:10-1:25 EXPLAIN. His ideal = a free and democratic society, everybody lives together in harmony, equal opportunities. Three words, one breath each: democracy, equality, harmony. Then: 'And here is how he ended.'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1:25-1:50 THE LAST SENTENCE (4 clicks). Click 1: 'It is an ideal'. Say nothing for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2: 'for which'.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3: 'I am prepared'. Slow. Look at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4: 'to die.' Then SILENCE - count 5 seconds in your head and look at the class in the eyes, like he looked at the judge (fact: he looked Judge de Wet in the eye on this line). Then say: 'He said this three hours into his speech.' Careful: do NOT say 'it was the first line' - it is the LAST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1:50-2:35 THREE TOOLS (about 15 s each). (1) IF NEEDS BE: lawyers wanted him to cut the last sentence (risk of death sentence). He refused but added 'if needs be'. (2) REPETITION: 'I have fought against white domination, and I have fought against black domination.' (3) CALM: 'a calm and sober assessment of the political situation' - reason, not anger. Link: 'Words can be soft AND strong.'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2:35-3:00 WORD PLAY. Key words: 'sentence' has TWO meanings = words, and punishment. His last SENTENCE could lead to a death SENTENCE. Result: a life SENTENCE (prison for life, not death). Pause, smile: 'Words, again.' This is the payoff of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3:00-3:25 LINK TO THEME (Art and Power). Key words: in court he had no weapons - only words / WORDS vs POWER / he believed his words 'dared' the judge / class notes: art can serve power (propaganda) OR challenge it - here, words CHALLENGE power. If asked: he did admit planning sabotage in this speech; he explained why. My focus = his words in court.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3:25-3:45 JUSTIFY. Three reasons, one breath each: life or death = real stakes / one man against a whole system / 27 years later he was president. Then PAUSE and say your PERSONAL reason in ONE sentence: [WRITE IT HERE IN YOUR OWN WORDS BEFORE THE ORAL].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3:45-4:00 CONCLUSION. Back to the class question: 'How can words manipulate and control?' Words can control (apartheid = laws made of words)... but Mandela used words to FREE. End by asking the class, slowly: 'Which ideal would you speak up for?' Stop. Say 'Thank you.' Do not add anything after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this slide. It is for the teacher / evidence of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ok line 1"/>
          <p:cNvSpPr txBox="1"/>
          <p:nvPr/>
        </p:nvSpPr>
        <p:spPr>
          <a:xfrm>
            <a:off x="548640" y="868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one</a:t>
            </a:r>
            <a:endParaRPr lang="en-US" sz="4000" dirty="0"/>
          </a:p>
        </p:txBody>
      </p:sp>
      <p:sp>
        <p:nvSpPr>
          <p:cNvPr id="4" name="Hook word"/>
          <p:cNvSpPr txBox="1"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</a:t>
            </a:r>
            <a:endParaRPr lang="en-US" sz="8800" dirty="0"/>
          </a:p>
        </p:txBody>
      </p:sp>
      <p:sp>
        <p:nvSpPr>
          <p:cNvPr id="5" name="Hook line 2"/>
          <p:cNvSpPr txBox="1"/>
          <p:nvPr/>
        </p:nvSpPr>
        <p:spPr>
          <a:xfrm>
            <a:off x="548640" y="3063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your life?</a:t>
            </a:r>
            <a:endParaRPr lang="en-US" sz="4000" dirty="0"/>
          </a:p>
        </p:txBody>
      </p:sp>
      <p:sp>
        <p:nvSpPr>
          <p:cNvPr id="6" name="Theme tag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Words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DESCRIBE</a:t>
            </a:r>
            <a:endParaRPr lang="en-US" sz="1400" dirty="0"/>
          </a:p>
        </p:txBody>
      </p:sp>
      <p:sp>
        <p:nvSpPr>
          <p:cNvPr id="4" name="Stat number"/>
          <p:cNvSpPr txBox="1"/>
          <p:nvPr/>
        </p:nvSpPr>
        <p:spPr>
          <a:xfrm>
            <a:off x="548640" y="100584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0" dirty="0"/>
          </a:p>
        </p:txBody>
      </p:sp>
      <p:sp>
        <p:nvSpPr>
          <p:cNvPr id="5" name="Stat label"/>
          <p:cNvSpPr txBox="1"/>
          <p:nvPr/>
        </p:nvSpPr>
        <p:spPr>
          <a:xfrm>
            <a:off x="64008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3600" dirty="0"/>
          </a:p>
        </p:txBody>
      </p:sp>
      <p:sp>
        <p:nvSpPr>
          <p:cNvPr id="6" name="Row label 1"/>
          <p:cNvSpPr txBox="1"/>
          <p:nvPr/>
        </p:nvSpPr>
        <p:spPr>
          <a:xfrm>
            <a:off x="38404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</p:txBody>
      </p:sp>
      <p:sp>
        <p:nvSpPr>
          <p:cNvPr id="7" name="Row value 1"/>
          <p:cNvSpPr txBox="1"/>
          <p:nvPr/>
        </p:nvSpPr>
        <p:spPr>
          <a:xfrm>
            <a:off x="3840480" y="13898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Nelson Mandela</a:t>
            </a:r>
            <a:endParaRPr lang="en-US" sz="3000" dirty="0"/>
          </a:p>
        </p:txBody>
      </p:sp>
      <p:sp>
        <p:nvSpPr>
          <p:cNvPr id="8" name="Row label 2"/>
          <p:cNvSpPr txBox="1"/>
          <p:nvPr/>
        </p:nvSpPr>
        <p:spPr>
          <a:xfrm>
            <a:off x="38404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9" name="Row value 2"/>
          <p:cNvSpPr txBox="1"/>
          <p:nvPr/>
        </p:nvSpPr>
        <p:spPr>
          <a:xfrm>
            <a:off x="3840480" y="25786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April 1964</a:t>
            </a:r>
            <a:endParaRPr lang="en-US" sz="3000" dirty="0"/>
          </a:p>
        </p:txBody>
      </p:sp>
      <p:sp>
        <p:nvSpPr>
          <p:cNvPr id="10" name="Row label 3"/>
          <p:cNvSpPr txBox="1"/>
          <p:nvPr/>
        </p:nvSpPr>
        <p:spPr>
          <a:xfrm>
            <a:off x="384048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11" name="Row value 3"/>
          <p:cNvSpPr txBox="1"/>
          <p:nvPr/>
        </p:nvSpPr>
        <p:spPr>
          <a:xfrm>
            <a:off x="3840480" y="376732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Rivonia Trial,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dock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Nelson Mandela burning his pass, 1960 (black and whit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4" name="Step tag"/>
          <p:cNvSpPr txBox="1"/>
          <p:nvPr/>
        </p:nvSpPr>
        <p:spPr>
          <a:xfrm>
            <a:off x="4206240" y="365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CONTEXT</a:t>
            </a:r>
            <a:endParaRPr lang="en-US" sz="1400" dirty="0"/>
          </a:p>
        </p:txBody>
      </p:sp>
      <p:sp>
        <p:nvSpPr>
          <p:cNvPr id="5" name="Context word"/>
          <p:cNvSpPr txBox="1"/>
          <p:nvPr/>
        </p:nvSpPr>
        <p:spPr>
          <a:xfrm>
            <a:off x="4206240" y="1371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APARTHEID</a:t>
            </a:r>
            <a:endParaRPr lang="en-US" sz="4600" dirty="0"/>
          </a:p>
        </p:txBody>
      </p:sp>
      <p:sp>
        <p:nvSpPr>
          <p:cNvPr id="6" name="Context line 1"/>
          <p:cNvSpPr txBox="1"/>
          <p:nvPr/>
        </p:nvSpPr>
        <p:spPr>
          <a:xfrm>
            <a:off x="4206240" y="2514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Racist laws.</a:t>
            </a:r>
            <a:endParaRPr lang="en-US" sz="3000" dirty="0"/>
          </a:p>
        </p:txBody>
      </p:sp>
      <p:sp>
        <p:nvSpPr>
          <p:cNvPr id="7" name="Context line 2"/>
          <p:cNvSpPr txBox="1"/>
          <p:nvPr/>
        </p:nvSpPr>
        <p:spPr>
          <a:xfrm>
            <a:off x="4206240" y="3108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Unequal rights.</a:t>
            </a:r>
            <a:endParaRPr lang="en-US" sz="3000" dirty="0"/>
          </a:p>
        </p:txBody>
      </p:sp>
      <p:sp>
        <p:nvSpPr>
          <p:cNvPr id="8" name="Photo credit"/>
          <p:cNvSpPr txBox="1"/>
          <p:nvPr/>
        </p:nvSpPr>
        <p:spPr>
          <a:xfrm>
            <a:off x="4206240" y="4343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Mandela burning his pass, 1960. Public domain, Wikimedia Commons. Converted to black and white.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EXPLAIN</a:t>
            </a:r>
            <a:endParaRPr lang="en-US" sz="1400" dirty="0"/>
          </a:p>
        </p:txBody>
      </p:sp>
      <p:sp>
        <p:nvSpPr>
          <p:cNvPr id="4" name="Ideal subtitle"/>
          <p:cNvSpPr txBox="1"/>
          <p:nvPr/>
        </p:nvSpPr>
        <p:spPr>
          <a:xfrm>
            <a:off x="548640" y="868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 ideal</a:t>
            </a:r>
            <a:endParaRPr lang="en-US" sz="2400" dirty="0"/>
          </a:p>
        </p:txBody>
      </p:sp>
      <p:sp>
        <p:nvSpPr>
          <p:cNvPr id="5" name="Ideal word 1"/>
          <p:cNvSpPr txBox="1"/>
          <p:nvPr/>
        </p:nvSpPr>
        <p:spPr>
          <a:xfrm>
            <a:off x="548640" y="1463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DEMOCRACY</a:t>
            </a:r>
            <a:endParaRPr lang="en-US" sz="5200" dirty="0"/>
          </a:p>
        </p:txBody>
      </p:sp>
      <p:sp>
        <p:nvSpPr>
          <p:cNvPr id="6" name="Ideal word 2"/>
          <p:cNvSpPr txBox="1"/>
          <p:nvPr/>
        </p:nvSpPr>
        <p:spPr>
          <a:xfrm>
            <a:off x="548640" y="248716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EQUALITY</a:t>
            </a:r>
            <a:endParaRPr lang="en-US" sz="5200" dirty="0"/>
          </a:p>
        </p:txBody>
      </p:sp>
      <p:sp>
        <p:nvSpPr>
          <p:cNvPr id="7" name="Ideal word 3"/>
          <p:cNvSpPr txBox="1"/>
          <p:nvPr/>
        </p:nvSpPr>
        <p:spPr>
          <a:xfrm>
            <a:off x="548640" y="351129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HARMONY</a:t>
            </a:r>
            <a:endParaRPr lang="en-US" sz="5200" dirty="0"/>
          </a:p>
        </p:txBody>
      </p:sp>
      <p:sp>
        <p:nvSpPr>
          <p:cNvPr id="8" name="Ideal circle"/>
          <p:cNvSpPr/>
          <p:nvPr/>
        </p:nvSpPr>
        <p:spPr>
          <a:xfrm>
            <a:off x="5760720" y="1234440"/>
            <a:ext cx="2834640" cy="2834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Ideal circle text"/>
          <p:cNvSpPr txBox="1"/>
          <p:nvPr/>
        </p:nvSpPr>
        <p:spPr>
          <a:xfrm>
            <a:off x="5760720" y="2331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ideal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EXPLAIN · THE LAST SENTENCE</a:t>
            </a:r>
            <a:endParaRPr lang="en-US" sz="1400" dirty="0"/>
          </a:p>
        </p:txBody>
      </p:sp>
      <p:sp>
        <p:nvSpPr>
          <p:cNvPr id="4" name="Quote line 1"/>
          <p:cNvSpPr txBox="1"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an ideal</a:t>
            </a:r>
            <a:endParaRPr lang="en-US" sz="5000" dirty="0"/>
          </a:p>
        </p:txBody>
      </p:sp>
      <p:sp>
        <p:nvSpPr>
          <p:cNvPr id="5" name="Quote source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Mandela · 20 April 1964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EXPLAIN · THE LAST SENTENCE</a:t>
            </a:r>
            <a:endParaRPr lang="en-US" sz="1400" dirty="0"/>
          </a:p>
        </p:txBody>
      </p:sp>
      <p:sp>
        <p:nvSpPr>
          <p:cNvPr id="4" name="Quote line 1"/>
          <p:cNvSpPr txBox="1"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an ideal</a:t>
            </a:r>
            <a:endParaRPr lang="en-US" sz="5000" dirty="0"/>
          </a:p>
        </p:txBody>
      </p:sp>
      <p:sp>
        <p:nvSpPr>
          <p:cNvPr id="5" name="Quote line 2"/>
          <p:cNvSpPr txBox="1"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which</a:t>
            </a:r>
            <a:endParaRPr lang="en-US" sz="5000" dirty="0"/>
          </a:p>
        </p:txBody>
      </p:sp>
      <p:sp>
        <p:nvSpPr>
          <p:cNvPr id="6" name="Quote source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Mandela · 20 April 1964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EXPLAIN · THE LAST SENTENCE</a:t>
            </a:r>
            <a:endParaRPr lang="en-US" sz="1400" dirty="0"/>
          </a:p>
        </p:txBody>
      </p:sp>
      <p:sp>
        <p:nvSpPr>
          <p:cNvPr id="4" name="Quote line 1"/>
          <p:cNvSpPr txBox="1"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an ideal</a:t>
            </a:r>
            <a:endParaRPr lang="en-US" sz="5000" dirty="0"/>
          </a:p>
        </p:txBody>
      </p:sp>
      <p:sp>
        <p:nvSpPr>
          <p:cNvPr id="5" name="Quote line 2"/>
          <p:cNvSpPr txBox="1"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which</a:t>
            </a:r>
            <a:endParaRPr lang="en-US" sz="5000" dirty="0"/>
          </a:p>
        </p:txBody>
      </p:sp>
      <p:sp>
        <p:nvSpPr>
          <p:cNvPr id="6" name="Quote line 3"/>
          <p:cNvSpPr txBox="1"/>
          <p:nvPr/>
        </p:nvSpPr>
        <p:spPr>
          <a:xfrm>
            <a:off x="548640" y="2423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am prepared</a:t>
            </a:r>
            <a:endParaRPr lang="en-US" sz="5000" dirty="0"/>
          </a:p>
        </p:txBody>
      </p:sp>
      <p:sp>
        <p:nvSpPr>
          <p:cNvPr id="7" name="Quote source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Mandela · 20 April 1964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EXPLAIN · THE LAST SENTENCE</a:t>
            </a:r>
            <a:endParaRPr lang="en-US" sz="1400" dirty="0"/>
          </a:p>
        </p:txBody>
      </p:sp>
      <p:sp>
        <p:nvSpPr>
          <p:cNvPr id="4" name="Quote line 1"/>
          <p:cNvSpPr txBox="1"/>
          <p:nvPr/>
        </p:nvSpPr>
        <p:spPr>
          <a:xfrm>
            <a:off x="548640" y="8686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an ideal</a:t>
            </a:r>
            <a:endParaRPr lang="en-US" sz="5000" dirty="0"/>
          </a:p>
        </p:txBody>
      </p:sp>
      <p:sp>
        <p:nvSpPr>
          <p:cNvPr id="5" name="Quote line 2"/>
          <p:cNvSpPr txBox="1"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which</a:t>
            </a:r>
            <a:endParaRPr lang="en-US" sz="5000" dirty="0"/>
          </a:p>
        </p:txBody>
      </p:sp>
      <p:sp>
        <p:nvSpPr>
          <p:cNvPr id="6" name="Quote line 3"/>
          <p:cNvSpPr txBox="1"/>
          <p:nvPr/>
        </p:nvSpPr>
        <p:spPr>
          <a:xfrm>
            <a:off x="548640" y="2423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am prepared</a:t>
            </a:r>
            <a:endParaRPr lang="en-US" sz="5000" dirty="0"/>
          </a:p>
        </p:txBody>
      </p:sp>
      <p:sp>
        <p:nvSpPr>
          <p:cNvPr id="7" name="Quote line 4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</a:t>
            </a:r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die.</a:t>
            </a:r>
            <a:endParaRPr lang="en-US" sz="8000" dirty="0"/>
          </a:p>
        </p:txBody>
      </p:sp>
      <p:sp>
        <p:nvSpPr>
          <p:cNvPr id="8" name="Quote source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Mandela · 20 April 1964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HOW WORDS WORK</a:t>
            </a:r>
            <a:endParaRPr lang="en-US" sz="1400" dirty="0"/>
          </a:p>
        </p:txBody>
      </p:sp>
      <p:sp>
        <p:nvSpPr>
          <p:cNvPr id="4" name="Tools heading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tools</a:t>
            </a:r>
            <a:endParaRPr lang="en-US" sz="3600" dirty="0"/>
          </a:p>
        </p:txBody>
      </p:sp>
      <p:sp>
        <p:nvSpPr>
          <p:cNvPr id="5" name="Card 1"/>
          <p:cNvSpPr/>
          <p:nvPr/>
        </p:nvSpPr>
        <p:spPr>
          <a:xfrm>
            <a:off x="548640" y="16916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 circle 1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IF NEEDS B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84832"/>
            <a:ext cx="402336" cy="402336"/>
          </a:xfrm>
          <a:prstGeom prst="rect">
            <a:avLst/>
          </a:prstGeom>
        </p:spPr>
      </p:pic>
      <p:sp>
        <p:nvSpPr>
          <p:cNvPr id="8" name="Card title 1"/>
          <p:cNvSpPr txBox="1"/>
          <p:nvPr/>
        </p:nvSpPr>
        <p:spPr>
          <a:xfrm>
            <a:off x="7772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NEEDS BE</a:t>
            </a:r>
            <a:endParaRPr lang="en-US" sz="2200" dirty="0"/>
          </a:p>
        </p:txBody>
      </p:sp>
      <p:sp>
        <p:nvSpPr>
          <p:cNvPr id="9" name="Card text 1"/>
          <p:cNvSpPr txBox="1"/>
          <p:nvPr/>
        </p:nvSpPr>
        <p:spPr>
          <a:xfrm>
            <a:off x="777240" y="3474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added it to the last sentence</a:t>
            </a:r>
            <a:endParaRPr lang="en-US" sz="1500" dirty="0"/>
          </a:p>
        </p:txBody>
      </p:sp>
      <p:sp>
        <p:nvSpPr>
          <p:cNvPr id="10" name="Card 2"/>
          <p:cNvSpPr/>
          <p:nvPr/>
        </p:nvSpPr>
        <p:spPr>
          <a:xfrm>
            <a:off x="3291840" y="16916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Icon circle 2"/>
          <p:cNvSpPr/>
          <p:nvPr/>
        </p:nvSpPr>
        <p:spPr>
          <a:xfrm>
            <a:off x="352044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REPETI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2084832"/>
            <a:ext cx="402336" cy="402336"/>
          </a:xfrm>
          <a:prstGeom prst="rect">
            <a:avLst/>
          </a:prstGeom>
        </p:spPr>
      </p:pic>
      <p:sp>
        <p:nvSpPr>
          <p:cNvPr id="13" name="Card title 2"/>
          <p:cNvSpPr txBox="1"/>
          <p:nvPr/>
        </p:nvSpPr>
        <p:spPr>
          <a:xfrm>
            <a:off x="35204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</a:t>
            </a:r>
            <a:endParaRPr lang="en-US" sz="2200" dirty="0"/>
          </a:p>
        </p:txBody>
      </p:sp>
      <p:sp>
        <p:nvSpPr>
          <p:cNvPr id="14" name="Card text 2"/>
          <p:cNvSpPr txBox="1"/>
          <p:nvPr/>
        </p:nvSpPr>
        <p:spPr>
          <a:xfrm>
            <a:off x="3520440" y="3474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fought against…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fought against…</a:t>
            </a:r>
            <a:endParaRPr lang="en-US" sz="1500" dirty="0"/>
          </a:p>
        </p:txBody>
      </p:sp>
      <p:sp>
        <p:nvSpPr>
          <p:cNvPr id="15" name="Card 3"/>
          <p:cNvSpPr/>
          <p:nvPr/>
        </p:nvSpPr>
        <p:spPr>
          <a:xfrm>
            <a:off x="6035040" y="16916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Icon circle 3"/>
          <p:cNvSpPr/>
          <p:nvPr/>
        </p:nvSpPr>
        <p:spPr>
          <a:xfrm>
            <a:off x="6263640" y="19202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CAL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084832"/>
            <a:ext cx="402336" cy="402336"/>
          </a:xfrm>
          <a:prstGeom prst="rect">
            <a:avLst/>
          </a:prstGeom>
        </p:spPr>
      </p:pic>
      <p:sp>
        <p:nvSpPr>
          <p:cNvPr id="18" name="Card title 3"/>
          <p:cNvSpPr txBox="1"/>
          <p:nvPr/>
        </p:nvSpPr>
        <p:spPr>
          <a:xfrm>
            <a:off x="626364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</a:t>
            </a:r>
            <a:endParaRPr lang="en-US" sz="2200" dirty="0"/>
          </a:p>
        </p:txBody>
      </p:sp>
      <p:sp>
        <p:nvSpPr>
          <p:cNvPr id="19" name="Card text 3"/>
          <p:cNvSpPr txBox="1"/>
          <p:nvPr/>
        </p:nvSpPr>
        <p:spPr>
          <a:xfrm>
            <a:off x="6263640" y="3474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calm and sober assessment”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LINK</a:t>
            </a:r>
            <a:endParaRPr lang="en-US" sz="1400" dirty="0"/>
          </a:p>
        </p:txBody>
      </p:sp>
      <p:sp>
        <p:nvSpPr>
          <p:cNvPr id="4" name="Pun heading"/>
          <p:cNvSpPr txBox="1"/>
          <p:nvPr/>
        </p:nvSpPr>
        <p:spPr>
          <a:xfrm>
            <a:off x="548640" y="777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word, two meanings</a:t>
            </a:r>
            <a:endParaRPr lang="en-US" sz="3600" dirty="0"/>
          </a:p>
        </p:txBody>
      </p:sp>
      <p:sp>
        <p:nvSpPr>
          <p:cNvPr id="5" name="Pun box 1"/>
          <p:cNvSpPr/>
          <p:nvPr/>
        </p:nvSpPr>
        <p:spPr>
          <a:xfrm>
            <a:off x="548640" y="1920240"/>
            <a:ext cx="22860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un label 1"/>
          <p:cNvSpPr txBox="1"/>
          <p:nvPr/>
        </p:nvSpPr>
        <p:spPr>
          <a:xfrm>
            <a:off x="77724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400" dirty="0"/>
          </a:p>
        </p:txBody>
      </p:sp>
      <p:sp>
        <p:nvSpPr>
          <p:cNvPr id="7" name="Pun text 1"/>
          <p:cNvSpPr txBox="1"/>
          <p:nvPr/>
        </p:nvSpPr>
        <p:spPr>
          <a:xfrm>
            <a:off x="77724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 last</a:t>
            </a:r>
            <a:endParaRPr lang="en-US" sz="2400" dirty="0"/>
          </a:p>
        </p:txBody>
      </p:sp>
      <p:sp>
        <p:nvSpPr>
          <p:cNvPr id="8" name="Pun word 1"/>
          <p:cNvSpPr txBox="1"/>
          <p:nvPr/>
        </p:nvSpPr>
        <p:spPr>
          <a:xfrm>
            <a:off x="777240" y="3200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</a:t>
            </a:r>
            <a:endParaRPr lang="en-US" sz="2200" dirty="0"/>
          </a:p>
        </p:txBody>
      </p:sp>
      <p:pic>
        <p:nvPicPr>
          <p:cNvPr id="9" name="Image 0" descr="ar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2880360"/>
            <a:ext cx="320040" cy="320040"/>
          </a:xfrm>
          <a:prstGeom prst="rect">
            <a:avLst/>
          </a:prstGeom>
        </p:spPr>
      </p:pic>
      <p:sp>
        <p:nvSpPr>
          <p:cNvPr id="10" name="Pun box 2"/>
          <p:cNvSpPr/>
          <p:nvPr/>
        </p:nvSpPr>
        <p:spPr>
          <a:xfrm>
            <a:off x="3337560" y="1920240"/>
            <a:ext cx="22860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Pun label 2"/>
          <p:cNvSpPr txBox="1"/>
          <p:nvPr/>
        </p:nvSpPr>
        <p:spPr>
          <a:xfrm>
            <a:off x="356616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400" dirty="0"/>
          </a:p>
        </p:txBody>
      </p:sp>
      <p:sp>
        <p:nvSpPr>
          <p:cNvPr id="12" name="Pun text 2"/>
          <p:cNvSpPr txBox="1"/>
          <p:nvPr/>
        </p:nvSpPr>
        <p:spPr>
          <a:xfrm>
            <a:off x="356616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death</a:t>
            </a:r>
            <a:endParaRPr lang="en-US" sz="2400" dirty="0"/>
          </a:p>
        </p:txBody>
      </p:sp>
      <p:sp>
        <p:nvSpPr>
          <p:cNvPr id="13" name="Pun word 2"/>
          <p:cNvSpPr txBox="1"/>
          <p:nvPr/>
        </p:nvSpPr>
        <p:spPr>
          <a:xfrm>
            <a:off x="3566160" y="3200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SENTENCE?</a:t>
            </a:r>
            <a:endParaRPr lang="en-US" sz="2200" dirty="0"/>
          </a:p>
        </p:txBody>
      </p:sp>
      <p:pic>
        <p:nvPicPr>
          <p:cNvPr id="14" name="Image 1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880360"/>
            <a:ext cx="320040" cy="320040"/>
          </a:xfrm>
          <a:prstGeom prst="rect">
            <a:avLst/>
          </a:prstGeom>
        </p:spPr>
      </p:pic>
      <p:sp>
        <p:nvSpPr>
          <p:cNvPr id="15" name="Pun box 3"/>
          <p:cNvSpPr/>
          <p:nvPr/>
        </p:nvSpPr>
        <p:spPr>
          <a:xfrm>
            <a:off x="6126480" y="1920240"/>
            <a:ext cx="228600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Pun label 3"/>
          <p:cNvSpPr txBox="1"/>
          <p:nvPr/>
        </p:nvSpPr>
        <p:spPr>
          <a:xfrm>
            <a:off x="635508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17" name="Pun text 3"/>
          <p:cNvSpPr txBox="1"/>
          <p:nvPr/>
        </p:nvSpPr>
        <p:spPr>
          <a:xfrm>
            <a:off x="6355080" y="2743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life</a:t>
            </a:r>
            <a:endParaRPr lang="en-US" sz="2400" dirty="0"/>
          </a:p>
        </p:txBody>
      </p:sp>
      <p:sp>
        <p:nvSpPr>
          <p:cNvPr id="18" name="Pun word 3"/>
          <p:cNvSpPr txBox="1"/>
          <p:nvPr/>
        </p:nvSpPr>
        <p:spPr>
          <a:xfrm>
            <a:off x="6355080" y="3200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Mandela's cell on Robben Island, behind bars (black and whit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4" name="Step tag"/>
          <p:cNvSpPr txBox="1"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LINK</a:t>
            </a:r>
            <a:endParaRPr lang="en-US" sz="1400" dirty="0"/>
          </a:p>
        </p:txBody>
      </p:sp>
      <p:sp>
        <p:nvSpPr>
          <p:cNvPr id="5" name="Link word 1"/>
          <p:cNvSpPr txBox="1"/>
          <p:nvPr/>
        </p:nvSpPr>
        <p:spPr>
          <a:xfrm>
            <a:off x="548640" y="1051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</a:t>
            </a:r>
            <a:endParaRPr lang="en-US" sz="6600" dirty="0"/>
          </a:p>
        </p:txBody>
      </p:sp>
      <p:sp>
        <p:nvSpPr>
          <p:cNvPr id="6" name="Link vs"/>
          <p:cNvSpPr txBox="1"/>
          <p:nvPr/>
        </p:nvSpPr>
        <p:spPr>
          <a:xfrm>
            <a:off x="54864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400" dirty="0"/>
          </a:p>
        </p:txBody>
      </p:sp>
      <p:sp>
        <p:nvSpPr>
          <p:cNvPr id="7" name="Link word 2"/>
          <p:cNvSpPr txBox="1"/>
          <p:nvPr/>
        </p:nvSpPr>
        <p:spPr>
          <a:xfrm>
            <a:off x="548640" y="2423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6600" dirty="0"/>
          </a:p>
        </p:txBody>
      </p:sp>
      <p:sp>
        <p:nvSpPr>
          <p:cNvPr id="8" name="Link line"/>
          <p:cNvSpPr txBox="1"/>
          <p:nvPr/>
        </p:nvSpPr>
        <p:spPr>
          <a:xfrm>
            <a:off x="54864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“dared” the judge.</a:t>
            </a:r>
            <a:endParaRPr lang="en-US" sz="2400" dirty="0"/>
          </a:p>
        </p:txBody>
      </p:sp>
      <p:sp>
        <p:nvSpPr>
          <p:cNvPr id="9" name="Photo credit"/>
          <p:cNvSpPr txBox="1"/>
          <p:nvPr/>
        </p:nvSpPr>
        <p:spPr>
          <a:xfrm>
            <a:off x="54864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Mandela's cell, Robben Island. © Schavda, CC BY-SA 3.0, Wikimedia Commons. Converted to black and white.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WHY THIS DOCUMENT</a:t>
            </a:r>
            <a:endParaRPr lang="en-US" sz="1400" dirty="0"/>
          </a:p>
        </p:txBody>
      </p:sp>
      <p:sp>
        <p:nvSpPr>
          <p:cNvPr id="4" name="Why heading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speech?</a:t>
            </a:r>
            <a:endParaRPr lang="en-US" sz="3600" dirty="0"/>
          </a:p>
        </p:txBody>
      </p:sp>
      <p:sp>
        <p:nvSpPr>
          <p:cNvPr id="5" name="Number circle 1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ber 1"/>
          <p:cNvSpPr txBox="1"/>
          <p:nvPr/>
        </p:nvSpPr>
        <p:spPr>
          <a:xfrm>
            <a:off x="548640" y="170992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Reason 1"/>
          <p:cNvSpPr txBox="1"/>
          <p:nvPr/>
        </p:nvSpPr>
        <p:spPr>
          <a:xfrm>
            <a:off x="1371600" y="17190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or death: real stakes</a:t>
            </a:r>
            <a:endParaRPr lang="en-US" sz="2800" dirty="0"/>
          </a:p>
        </p:txBody>
      </p:sp>
      <p:sp>
        <p:nvSpPr>
          <p:cNvPr id="8" name="Number circle 2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ber 2"/>
          <p:cNvSpPr txBox="1"/>
          <p:nvPr/>
        </p:nvSpPr>
        <p:spPr>
          <a:xfrm>
            <a:off x="548640" y="248716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Reason 2"/>
          <p:cNvSpPr txBox="1"/>
          <p:nvPr/>
        </p:nvSpPr>
        <p:spPr>
          <a:xfrm>
            <a:off x="1371600" y="249631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man vs. a whole system</a:t>
            </a:r>
            <a:endParaRPr lang="en-US" sz="2800" dirty="0"/>
          </a:p>
        </p:txBody>
      </p:sp>
      <p:sp>
        <p:nvSpPr>
          <p:cNvPr id="11" name="Number circle 3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ber 3"/>
          <p:cNvSpPr txBox="1"/>
          <p:nvPr/>
        </p:nvSpPr>
        <p:spPr>
          <a:xfrm>
            <a:off x="548640" y="32644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Reason 3"/>
          <p:cNvSpPr txBox="1"/>
          <p:nvPr/>
        </p:nvSpPr>
        <p:spPr>
          <a:xfrm>
            <a:off x="1371600" y="327355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years later: president</a:t>
            </a:r>
            <a:endParaRPr lang="en-US" sz="2800" dirty="0"/>
          </a:p>
        </p:txBody>
      </p:sp>
      <p:sp>
        <p:nvSpPr>
          <p:cNvPr id="14" name="Personal teaser"/>
          <p:cNvSpPr txBox="1"/>
          <p:nvPr/>
        </p:nvSpPr>
        <p:spPr>
          <a:xfrm>
            <a:off x="54864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for me…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Conclusion line 1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can control.</a:t>
            </a:r>
            <a:endParaRPr lang="en-US" sz="4800" dirty="0"/>
          </a:p>
        </p:txBody>
      </p:sp>
      <p:sp>
        <p:nvSpPr>
          <p:cNvPr id="5" name="Conclusion line 2"/>
          <p:cNvSpPr txBox="1"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can FREE.</a:t>
            </a:r>
            <a:endParaRPr lang="en-US" sz="4800" dirty="0"/>
          </a:p>
        </p:txBody>
      </p:sp>
      <p:sp>
        <p:nvSpPr>
          <p:cNvPr id="6" name="Final question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ideal would you speak up for?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tag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· NOT PRESENTED</a:t>
            </a:r>
            <a:endParaRPr lang="en-US" sz="1400" dirty="0"/>
          </a:p>
        </p:txBody>
      </p:sp>
      <p:sp>
        <p:nvSpPr>
          <p:cNvPr id="4" name="Credits"/>
          <p:cNvSpPr txBox="1"/>
          <p:nvPr/>
        </p:nvSpPr>
        <p:spPr>
          <a:xfrm>
            <a:off x="548640" y="100584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facts: Wikipedia, “I Am Prepared to Die” (CC BY-SA 4.0).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text: famous-trials.com, “I Am Prepared To Die”; Nelson Mandela Foundation / mandela.gov.za.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(slide 3): Mandela burning his pass, 1960. Public domain, Wikimedia Commons.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(slide 11): Mandela's cell, Robben Island. © Schavda, CC BY-SA 3.0, Wikimedia Commons.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photos converted to black and white. No AI-generated images.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ds Have Power">
  <a:themeElements>
    <a:clrScheme name="Words Have Power">
      <a:dk1>
        <a:srgbClr val="14110F"/>
      </a:dk1>
      <a:lt1>
        <a:srgbClr val="F2EDE4"/>
      </a:lt1>
      <a:dk2>
        <a:srgbClr val="2B2622"/>
      </a:dk2>
      <a:lt2>
        <a:srgbClr val="9A938B"/>
      </a:lt2>
      <a:accent1>
        <a:srgbClr val="F2B632"/>
      </a:accent1>
      <a:accent2>
        <a:srgbClr val="C8372D"/>
      </a:accent2>
      <a:accent3>
        <a:srgbClr val="9A938B"/>
      </a:accent3>
      <a:accent4>
        <a:srgbClr val="4A433D"/>
      </a:accent4>
      <a:accent5>
        <a:srgbClr val="F2EDE4"/>
      </a:accent5>
      <a:accent6>
        <a:srgbClr val="7A6A3A"/>
      </a:accent6>
      <a:hlink>
        <a:srgbClr val="F2B632"/>
      </a:hlink>
      <a:folHlink>
        <a:srgbClr val="9A938B"/>
      </a:folHlink>
    </a:clrScheme>
    <a:fontScheme name="Words Have Pow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Power of Words - Mandela, I am prepared to die</dc:title>
  <dc:subject>PptxGenJS Presentation</dc:subject>
  <dc:creator>Oral - English</dc:creator>
  <cp:lastModifiedBy>Oral - English</cp:lastModifiedBy>
  <cp:revision>1</cp:revision>
  <dcterms:created xsi:type="dcterms:W3CDTF">2026-10-17T20:38:01Z</dcterms:created>
  <dcterms:modified xsi:type="dcterms:W3CDTF">2026-10-17T20:38:01Z</dcterms:modified>
</cp:coreProperties>
</file>